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6" r:id="rId38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A9A0"/>
    <a:srgbClr val="44A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135" d="100"/>
          <a:sy n="135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se Lacny" userId="23fe6477bbe3a15b" providerId="LiveId" clId="{56547E4D-A16F-4CDC-A73B-0C017625E7BD}"/>
    <pc:docChg chg="undo custSel modSld">
      <pc:chgData name="Chase Lacny" userId="23fe6477bbe3a15b" providerId="LiveId" clId="{56547E4D-A16F-4CDC-A73B-0C017625E7BD}" dt="2026-08-13T16:59:58.327" v="969" actId="20577"/>
      <pc:docMkLst>
        <pc:docMk/>
      </pc:docMkLst>
      <pc:sldChg chg="modSp mod">
        <pc:chgData name="Chase Lacny" userId="23fe6477bbe3a15b" providerId="LiveId" clId="{56547E4D-A16F-4CDC-A73B-0C017625E7BD}" dt="2026-08-13T15:44:32.505" v="1" actId="20577"/>
        <pc:sldMkLst>
          <pc:docMk/>
          <pc:sldMk cId="0" sldId="257"/>
        </pc:sldMkLst>
        <pc:spChg chg="mod">
          <ac:chgData name="Chase Lacny" userId="23fe6477bbe3a15b" providerId="LiveId" clId="{56547E4D-A16F-4CDC-A73B-0C017625E7BD}" dt="2026-08-13T15:44:32.505" v="1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5:58:21.840" v="138" actId="20577"/>
        <pc:sldMkLst>
          <pc:docMk/>
          <pc:sldMk cId="0" sldId="258"/>
        </pc:sldMkLst>
        <pc:spChg chg="mod">
          <ac:chgData name="Chase Lacny" userId="23fe6477bbe3a15b" providerId="LiveId" clId="{56547E4D-A16F-4CDC-A73B-0C017625E7BD}" dt="2026-08-13T15:51:22.779" v="8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2:32.823" v="83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2:38.321" v="85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2:50.746" v="87" actId="20577"/>
          <ac:spMkLst>
            <pc:docMk/>
            <pc:sldMk cId="0" sldId="258"/>
            <ac:spMk id="40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2:57.348" v="89" actId="20577"/>
          <ac:spMkLst>
            <pc:docMk/>
            <pc:sldMk cId="0" sldId="258"/>
            <ac:spMk id="60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4:18.042" v="106" actId="20577"/>
          <ac:spMkLst>
            <pc:docMk/>
            <pc:sldMk cId="0" sldId="258"/>
            <ac:spMk id="62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8:21.840" v="138" actId="20577"/>
          <ac:spMkLst>
            <pc:docMk/>
            <pc:sldMk cId="0" sldId="258"/>
            <ac:spMk id="64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01:44.799" v="199" actId="20577"/>
        <pc:sldMkLst>
          <pc:docMk/>
          <pc:sldMk cId="0" sldId="259"/>
        </pc:sldMkLst>
        <pc:spChg chg="mod">
          <ac:chgData name="Chase Lacny" userId="23fe6477bbe3a15b" providerId="LiveId" clId="{56547E4D-A16F-4CDC-A73B-0C017625E7BD}" dt="2026-08-13T15:59:31.770" v="140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Chase Lacny" userId="23fe6477bbe3a15b" providerId="LiveId" clId="{56547E4D-A16F-4CDC-A73B-0C017625E7BD}" dt="2026-08-13T15:57:53.843" v="130" actId="313"/>
          <ac:spMkLst>
            <pc:docMk/>
            <pc:sldMk cId="0" sldId="259"/>
            <ac:spMk id="8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00:01.951" v="152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01:11.273" v="170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01:44.799" v="199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mod modNotesTx">
        <pc:chgData name="Chase Lacny" userId="23fe6477bbe3a15b" providerId="LiveId" clId="{56547E4D-A16F-4CDC-A73B-0C017625E7BD}" dt="2026-08-13T15:58:02.569" v="132" actId="313"/>
        <pc:sldMkLst>
          <pc:docMk/>
          <pc:sldMk cId="0" sldId="260"/>
        </pc:sldMkLst>
        <pc:spChg chg="mod">
          <ac:chgData name="Chase Lacny" userId="23fe6477bbe3a15b" providerId="LiveId" clId="{56547E4D-A16F-4CDC-A73B-0C017625E7BD}" dt="2026-08-13T15:57:55.805" v="131" actId="313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07:26.585" v="206" actId="20577"/>
        <pc:sldMkLst>
          <pc:docMk/>
          <pc:sldMk cId="0" sldId="262"/>
        </pc:sldMkLst>
        <pc:spChg chg="mod">
          <ac:chgData name="Chase Lacny" userId="23fe6477bbe3a15b" providerId="LiveId" clId="{56547E4D-A16F-4CDC-A73B-0C017625E7BD}" dt="2026-08-13T16:07:26.585" v="206" actId="20577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08:14.576" v="212" actId="20577"/>
        <pc:sldMkLst>
          <pc:docMk/>
          <pc:sldMk cId="0" sldId="263"/>
        </pc:sldMkLst>
        <pc:spChg chg="mod">
          <ac:chgData name="Chase Lacny" userId="23fe6477bbe3a15b" providerId="LiveId" clId="{56547E4D-A16F-4CDC-A73B-0C017625E7BD}" dt="2026-08-13T16:08:14.576" v="212" actId="20577"/>
          <ac:spMkLst>
            <pc:docMk/>
            <pc:sldMk cId="0" sldId="263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11:33.815" v="252" actId="20577"/>
        <pc:sldMkLst>
          <pc:docMk/>
          <pc:sldMk cId="0" sldId="265"/>
        </pc:sldMkLst>
        <pc:spChg chg="mod">
          <ac:chgData name="Chase Lacny" userId="23fe6477bbe3a15b" providerId="LiveId" clId="{56547E4D-A16F-4CDC-A73B-0C017625E7BD}" dt="2026-08-13T16:10:10.646" v="220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10:58.558" v="229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11:33.815" v="252" actId="20577"/>
          <ac:spMkLst>
            <pc:docMk/>
            <pc:sldMk cId="0" sldId="265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17:47.072" v="297" actId="20577"/>
        <pc:sldMkLst>
          <pc:docMk/>
          <pc:sldMk cId="0" sldId="266"/>
        </pc:sldMkLst>
        <pc:spChg chg="mod">
          <ac:chgData name="Chase Lacny" userId="23fe6477bbe3a15b" providerId="LiveId" clId="{56547E4D-A16F-4CDC-A73B-0C017625E7BD}" dt="2026-08-13T16:16:31.882" v="272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17:47.072" v="297" actId="20577"/>
          <ac:spMkLst>
            <pc:docMk/>
            <pc:sldMk cId="0" sldId="266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18:10.557" v="306" actId="20577"/>
        <pc:sldMkLst>
          <pc:docMk/>
          <pc:sldMk cId="0" sldId="267"/>
        </pc:sldMkLst>
        <pc:spChg chg="mod">
          <ac:chgData name="Chase Lacny" userId="23fe6477bbe3a15b" providerId="LiveId" clId="{56547E4D-A16F-4CDC-A73B-0C017625E7BD}" dt="2026-08-13T16:18:10.557" v="306" actId="20577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19:49.942" v="308" actId="20577"/>
        <pc:sldMkLst>
          <pc:docMk/>
          <pc:sldMk cId="0" sldId="270"/>
        </pc:sldMkLst>
        <pc:spChg chg="mod">
          <ac:chgData name="Chase Lacny" userId="23fe6477bbe3a15b" providerId="LiveId" clId="{56547E4D-A16F-4CDC-A73B-0C017625E7BD}" dt="2026-08-13T16:19:49.942" v="308" actId="20577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24:13.197" v="527" actId="20577"/>
        <pc:sldMkLst>
          <pc:docMk/>
          <pc:sldMk cId="0" sldId="271"/>
        </pc:sldMkLst>
        <pc:spChg chg="mod">
          <ac:chgData name="Chase Lacny" userId="23fe6477bbe3a15b" providerId="LiveId" clId="{56547E4D-A16F-4CDC-A73B-0C017625E7BD}" dt="2026-08-13T16:21:57.703" v="341" actId="20577"/>
          <ac:spMkLst>
            <pc:docMk/>
            <pc:sldMk cId="0" sldId="271"/>
            <ac:spMk id="15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24:13.197" v="527" actId="20577"/>
          <ac:spMkLst>
            <pc:docMk/>
            <pc:sldMk cId="0" sldId="271"/>
            <ac:spMk id="1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33:25.957" v="574" actId="20577"/>
        <pc:sldMkLst>
          <pc:docMk/>
          <pc:sldMk cId="0" sldId="272"/>
        </pc:sldMkLst>
        <pc:spChg chg="mod">
          <ac:chgData name="Chase Lacny" userId="23fe6477bbe3a15b" providerId="LiveId" clId="{56547E4D-A16F-4CDC-A73B-0C017625E7BD}" dt="2026-08-13T16:24:55.145" v="545" actId="5793"/>
          <ac:spMkLst>
            <pc:docMk/>
            <pc:sldMk cId="0" sldId="272"/>
            <ac:spMk id="16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32:54.312" v="569" actId="6549"/>
          <ac:spMkLst>
            <pc:docMk/>
            <pc:sldMk cId="0" sldId="272"/>
            <ac:spMk id="21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33:25.957" v="574" actId="20577"/>
          <ac:spMkLst>
            <pc:docMk/>
            <pc:sldMk cId="0" sldId="272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38:46.875" v="689" actId="20577"/>
        <pc:sldMkLst>
          <pc:docMk/>
          <pc:sldMk cId="0" sldId="274"/>
        </pc:sldMkLst>
        <pc:spChg chg="mod">
          <ac:chgData name="Chase Lacny" userId="23fe6477bbe3a15b" providerId="LiveId" clId="{56547E4D-A16F-4CDC-A73B-0C017625E7BD}" dt="2026-08-13T16:35:34.581" v="634" actId="20577"/>
          <ac:spMkLst>
            <pc:docMk/>
            <pc:sldMk cId="0" sldId="274"/>
            <ac:spMk id="16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38:46.875" v="689" actId="20577"/>
          <ac:spMkLst>
            <pc:docMk/>
            <pc:sldMk cId="0" sldId="274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40:55.679" v="702" actId="20577"/>
        <pc:sldMkLst>
          <pc:docMk/>
          <pc:sldMk cId="0" sldId="276"/>
        </pc:sldMkLst>
        <pc:spChg chg="mod">
          <ac:chgData name="Chase Lacny" userId="23fe6477bbe3a15b" providerId="LiveId" clId="{56547E4D-A16F-4CDC-A73B-0C017625E7BD}" dt="2026-08-13T16:40:55.679" v="702" actId="20577"/>
          <ac:spMkLst>
            <pc:docMk/>
            <pc:sldMk cId="0" sldId="276"/>
            <ac:spMk id="1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51:52.306" v="942" actId="313"/>
        <pc:sldMkLst>
          <pc:docMk/>
          <pc:sldMk cId="0" sldId="278"/>
        </pc:sldMkLst>
        <pc:spChg chg="mod">
          <ac:chgData name="Chase Lacny" userId="23fe6477bbe3a15b" providerId="LiveId" clId="{56547E4D-A16F-4CDC-A73B-0C017625E7BD}" dt="2026-08-13T16:49:14.418" v="716" actId="20577"/>
          <ac:spMkLst>
            <pc:docMk/>
            <pc:sldMk cId="0" sldId="278"/>
            <ac:spMk id="25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51:52.306" v="942" actId="313"/>
          <ac:spMkLst>
            <pc:docMk/>
            <pc:sldMk cId="0" sldId="278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53:34.581" v="944" actId="20577"/>
        <pc:sldMkLst>
          <pc:docMk/>
          <pc:sldMk cId="0" sldId="279"/>
        </pc:sldMkLst>
        <pc:spChg chg="mod">
          <ac:chgData name="Chase Lacny" userId="23fe6477bbe3a15b" providerId="LiveId" clId="{56547E4D-A16F-4CDC-A73B-0C017625E7BD}" dt="2026-08-13T16:53:34.581" v="944" actId="20577"/>
          <ac:spMkLst>
            <pc:docMk/>
            <pc:sldMk cId="0" sldId="279"/>
            <ac:spMk id="15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54:56.390" v="953" actId="20577"/>
        <pc:sldMkLst>
          <pc:docMk/>
          <pc:sldMk cId="0" sldId="281"/>
        </pc:sldMkLst>
        <pc:spChg chg="mod">
          <ac:chgData name="Chase Lacny" userId="23fe6477bbe3a15b" providerId="LiveId" clId="{56547E4D-A16F-4CDC-A73B-0C017625E7BD}" dt="2026-08-13T16:54:56.390" v="953" actId="20577"/>
          <ac:spMkLst>
            <pc:docMk/>
            <pc:sldMk cId="0" sldId="281"/>
            <ac:spMk id="26" creationId="{00000000-0000-0000-0000-000000000000}"/>
          </ac:spMkLst>
        </pc:spChg>
      </pc:sldChg>
      <pc:sldChg chg="modSp mod">
        <pc:chgData name="Chase Lacny" userId="23fe6477bbe3a15b" providerId="LiveId" clId="{56547E4D-A16F-4CDC-A73B-0C017625E7BD}" dt="2026-08-13T16:59:58.327" v="969" actId="20577"/>
        <pc:sldMkLst>
          <pc:docMk/>
          <pc:sldMk cId="0" sldId="285"/>
        </pc:sldMkLst>
        <pc:spChg chg="mod">
          <ac:chgData name="Chase Lacny" userId="23fe6477bbe3a15b" providerId="LiveId" clId="{56547E4D-A16F-4CDC-A73B-0C017625E7BD}" dt="2026-08-13T16:59:58.327" v="969" actId="20577"/>
          <ac:spMkLst>
            <pc:docMk/>
            <pc:sldMk cId="0" sldId="285"/>
            <ac:spMk id="4" creationId="{00000000-0000-0000-0000-000000000000}"/>
          </ac:spMkLst>
        </pc:spChg>
        <pc:spChg chg="mod">
          <ac:chgData name="Chase Lacny" userId="23fe6477bbe3a15b" providerId="LiveId" clId="{56547E4D-A16F-4CDC-A73B-0C017625E7BD}" dt="2026-08-13T16:59:44.707" v="966" actId="20577"/>
          <ac:spMkLst>
            <pc:docMk/>
            <pc:sldMk cId="0" sldId="285"/>
            <ac:spMk id="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37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Credify: the complete operating system for behavioral health, walked through the operational arc every practice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is useful in isolation but creates manual reconciliation and revenue leakage at every handoff between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Credify module maps to a distinct operational stage, showing product completeness and workflow logic in one view. AI runs underneath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a layer across the platform, not a feature in one module. It is currently in development, so these screens are design previews rather than shipped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Assist is the headline. Unlike a generic scribe, it knows the treatment plan, the assessment instruments, and the billing requirements, so its prompts are clinically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compliance story: AI accelerates plan maintenance without ever removing the clinician from the decision. Traceability to transcript is the audit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engine handles the known rules; AI handles what rules cannot see. The note-to-claim verification is the single biggest audit-exposure reducer in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seems minor but it is the clearest demonstration of the unified data model. No point solution can answer a question that spans clinical and billing.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specifically for behavioral health growth. It knows the difference between an agency referral source, an insurance case manager, and a direct-to-client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 Rules replace "who do I call today?" with a prioritized daily action queue. Consistent cadence drives predictable referral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Mailchimp and Constant Contact for referral source outreach, scoped for practice growth rather than generic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paper intake packets and email-based consent collection. Every new client arrives pre-documented.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group practices with multiple providers, multiple locations, and different service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No-show reduction is one of the fastest revenue recovery levers in behavioral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scratch for behavioral health. Workflows, terminology, and data model reflect real outpatient and IOP documentation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Solves the coordination problem in multi-provider practices. Every outstanding clinical action lives in the system, attached to the client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highest-compliance-risk areas in behavioral health documentation. It encodes the structure needed to pass payer audits and accreditation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practices write off 3 to 8 percent of billed charges to denials, not because the claims were wrong but for lack of a system to track and rework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Chargemaster is the pricing backbone. Contracted rates by payer, code, and locality feed directly into claim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nervous system. Because Credify owns every module, it fires cross-module alerts no point solution could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intelligence layer. Credify owns the clinical, operational, and billing data model, producing integrated reports no point solution can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Reporting depth is the differentiator. Any permutation is buildable from the same unified data set, whether that is trend, percentage, weighting, scoring, or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permutation a practice, payer, or accreditation body could ask for, including measurement over time, percentage, weighting, and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Credify is the only platform built to own every stage of the behavioral health client journey, all under one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6858000" cy="6858000"/>
          </a:xfrm>
          <a:prstGeom prst="ellipse">
            <a:avLst/>
          </a:prstGeom>
          <a:solidFill>
            <a:srgbClr val="1A8A6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5486400" cy="54864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Complete Operating System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for Behavioral Health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4015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platform for the full client journey, from first referral to final payment.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PRACTICE PARTNER OVERVIEW  ·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44A08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Behavioral health practices are stitched</a:t>
            </a:r>
            <a:endParaRPr lang="en-US" sz="2600" dirty="0">
              <a:solidFill>
                <a:srgbClr val="44A083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44A08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together with disconnected tools.</a:t>
            </a:r>
            <a:endParaRPr lang="en-US" sz="2600" dirty="0">
              <a:solidFill>
                <a:srgbClr val="44A08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389888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DFAF4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8A6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 to 7 Tools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06654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average behavioral health practice runs four or more disconnected platforms: EHR, billing, scheduling, CRM, email, and reporting.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54880" y="1389888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DFAF4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56048" y="15179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8A6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5-10% of net revenue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56048" y="206654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Unchallenged denials, aging claims, and unbilled sessions quietly drain collections every year.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127248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DFAF4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32552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8A6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Unified Record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380390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data fragments across multiple systems. Every handoff opens a gap in care, compliance, and billing.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3127248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DFAF4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6048" y="32552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8A6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Outcomes Are Invisible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56048" y="380390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Accreditation reporting, payer audits, and leadership dashboards get assembled from spreadsheets instead of live systems.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20" dirty="0">
                <a:solidFill>
                  <a:srgbClr val="1A8A6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CREDIFY CLIENT JOURNEY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0D1F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Credify’s</a:t>
            </a:r>
            <a:r>
              <a:rPr lang="en-US" sz="1400" dirty="0">
                <a:solidFill>
                  <a:srgbClr val="0D1F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platform supports agencies through every touchpoint.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5780" y="1097280"/>
            <a:ext cx="114300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5780" y="10972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1A8A66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365760" cy="36576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" y="164592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ACQUIRE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2940" y="2103120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" y="21945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CRM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Email / SMS Outreach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2940" y="2907792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" y="3017520"/>
            <a:ext cx="1033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Pipeline intelligence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 practice growth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68780" y="196596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6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15668" y="1097280"/>
            <a:ext cx="114300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15668" y="10972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20966E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04288" y="1188720"/>
            <a:ext cx="365760" cy="365760"/>
          </a:xfrm>
          <a:prstGeom prst="ellipse">
            <a:avLst/>
          </a:prstGeom>
          <a:solidFill>
            <a:srgbClr val="209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0428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52244" y="164592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INTAKE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2828" y="2103120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52244" y="21945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Portal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Therapist Match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52828" y="2907792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70532" y="3017520"/>
            <a:ext cx="1033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Inquiry to onboarded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on day 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58668" y="196596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096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05556" y="1097280"/>
            <a:ext cx="114300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05556" y="10972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2AAB82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94176" y="1188720"/>
            <a:ext cx="365760" cy="365760"/>
          </a:xfrm>
          <a:prstGeom prst="ellipse">
            <a:avLst/>
          </a:prstGeom>
          <a:solidFill>
            <a:srgbClr val="2AA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9417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42132" y="164592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SCHEDULE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42716" y="2103120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42132" y="21945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Calendar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Reminders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42716" y="2907792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0420" y="3017520"/>
            <a:ext cx="1033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session booked,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confirmed &amp; attended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48556" y="196596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AB8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95444" y="1097280"/>
            <a:ext cx="114300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95444" y="10972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1E7A5C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84064" y="1188720"/>
            <a:ext cx="365760" cy="365760"/>
          </a:xfrm>
          <a:prstGeom prst="ellipse">
            <a:avLst/>
          </a:prstGeom>
          <a:solidFill>
            <a:srgbClr val="1E7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8406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32020" y="164592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TREAT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2604" y="2103120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32020" y="21945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EHR + Tasks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Treatment Plan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32604" y="2907792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0308" y="3017520"/>
            <a:ext cx="1033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Compliant documentation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purpose-built for BH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38444" y="196596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7A5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085332" y="1097280"/>
            <a:ext cx="114300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85332" y="10972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155C44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73952" y="1188720"/>
            <a:ext cx="365760" cy="365760"/>
          </a:xfrm>
          <a:prstGeom prst="ellipse">
            <a:avLst/>
          </a:prstGeom>
          <a:solidFill>
            <a:srgbClr val="155C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7395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21908" y="164592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GET PAID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22492" y="2103120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21908" y="21945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Cycle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Mgmt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22492" y="2907792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40196" y="3017520"/>
            <a:ext cx="1033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dollar billed,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tracked &amp; collected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28332" y="1965960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5C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75220" y="1097280"/>
            <a:ext cx="1143000" cy="3127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475220" y="10972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527060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63840" y="1188720"/>
            <a:ext cx="365760" cy="365760"/>
          </a:xfrm>
          <a:prstGeom prst="ellipse">
            <a:avLst/>
          </a:prstGeom>
          <a:solidFill>
            <a:srgbClr val="527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638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511796" y="164592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3D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OPERATE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612380" y="2103120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511796" y="21945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Alerts Hub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Reports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12380" y="2907792"/>
            <a:ext cx="868680" cy="12802"/>
          </a:xfrm>
          <a:prstGeom prst="rect">
            <a:avLst/>
          </a:prstGeom>
          <a:solidFill>
            <a:srgbClr val="DD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30084" y="3017520"/>
            <a:ext cx="1033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visibility and custom KPIs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25780" y="4334256"/>
            <a:ext cx="8092440" cy="420624"/>
          </a:xfrm>
          <a:prstGeom prst="roundRect">
            <a:avLst>
              <a:gd name="adj" fmla="val 21739"/>
            </a:avLst>
          </a:prstGeom>
          <a:solidFill>
            <a:srgbClr val="0A3D2B"/>
          </a:solidFill>
          <a:ln w="12700">
            <a:solidFill>
              <a:srgbClr val="1A8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25780" y="4334256"/>
            <a:ext cx="8092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✦  CREDIFY AI  </a:t>
            </a:r>
            <a:r>
              <a:rPr lang="en-US" sz="90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runs through every stage: Session Assist, notes, navigation, and revenue cycle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463040"/>
            <a:ext cx="6400800" cy="6400800"/>
          </a:xfrm>
          <a:prstGeom prst="ellipse">
            <a:avLst/>
          </a:prstGeom>
          <a:solidFill>
            <a:srgbClr val="1A8A66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377440"/>
            <a:ext cx="5029200" cy="50292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2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across the whole journey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230428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 owns the clinical, scheduling, and billing data model, so its AI sees the whole client rather than a fragment.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99923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A8A66">
              <a:alpha val="26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3127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Session Assist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3438144"/>
            <a:ext cx="1673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Live transcription surfaces the questions a clinician should ask, in real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299923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A8A66">
              <a:alpha val="26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60904" y="3127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60904" y="3438144"/>
            <a:ext cx="1673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Dictate after the session and AI structures it into a customizable note format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99923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A8A66">
              <a:alpha val="26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9744" y="3127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9744" y="3438144"/>
            <a:ext cx="1673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Ask for anything in plain language and get routed to the right place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12280" y="299923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A8A66">
              <a:alpha val="26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58584" y="3127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Cycle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58584" y="3438144"/>
            <a:ext cx="1673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Scrub, predict, code, and appeal before a claim ever leaves the building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DEVELOPMENT  ·  DESIGN PREVIEW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 AI · IN DEVELOPMENT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Session Assist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AI listens so the clinician can stay present.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ai_ambi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Live Question Hints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Surfaces unasked assessment items, unaddressed goals, and risk disclosures as they happen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Code Support Tracking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Watches session time against the billed code so documentation matches the claim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Clinician Selects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Nothing is auto-filed. The provider chooses what carries into the record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 AI · IN DEVELOPMENT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Session to Treatment Plan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surfaced in session flows into the plan for review, never automatically.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ai_t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Traceable Every Time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Each drafted change links to a timestamped moment in the session transcript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Drafts, Never Files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proposes objective updates and the plan stays unsigned until the clinician signs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Closes the Loop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Goals discussed in session update instead of waiting for chart review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 AI · IN DEVELOPMENT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Claim Scrub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Catch the denial before the claim leaves the building.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ai_rc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Note-to-Claim Check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Reads the progress note and verifies it supports the billed code and time. No clearinghouse can do this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Learned Payer Patterns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Denial risk scored from your own history with a given payer, code, and diagnosis pair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Coding &amp; Appeals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Suggests CPT and modifier corrections, then drafts the appeal when one is needed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 AI · IN DEVELOPMENT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Natural-Language Navigation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Ask for anything and land on it, in any module.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ai_na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Plain Language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Ask in your own words instead of clicking through four menus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Answers, Then Routes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Summarizes what it found before sending you where you were going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Crosses Every Module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search bar spans clinical, scheduling, and billing because a single data model makes it possible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486400" cy="5486400"/>
          </a:xfrm>
          <a:prstGeom prst="ellipse">
            <a:avLst/>
          </a:prstGeom>
          <a:solidFill>
            <a:srgbClr val="1A8A66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6459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Acquire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your referral network. Turn inquiries into active clients.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8221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38221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42793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42793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Email / SMS Outreach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1 · ACQUIRE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Your entire referral network, organized and moving.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crm_contact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Unified Pipeline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Agencies, therapists, and referral sources with per-source status and custom contact types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Relationship Record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Per-contact activity log, notes, documents, and complete touch history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Automated Outreach Cadence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Touch Rules fire messages and follow-ups by pipeline stage, source type, and days since contact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1 · ACQUIRE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CRM · Touches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structured daily queue so no referral opportunity falls through.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crm_touche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Daily Action Queue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contact due for outreach appears automatically, with no manual list-building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One-Click Logging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 calls, emails, and visits with instant status updates from the queue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Prospective Client Outreach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Customize outreach cadences and track progress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1 · ACQUIRE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Email / SMS Outreach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Segmented outreach at scale, built for practice growth.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cluster_email_compose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CRM-Native Segments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Filter audiences by source type, pipeline stage, and last touch date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Compliance Built In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Open tracking, unsubscribe handling, and a full send audit log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Third-Party Vendor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Scheduled send, live preview, and send simulation inside the platform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486400" cy="5486400"/>
          </a:xfrm>
          <a:prstGeom prst="ellipse">
            <a:avLst/>
          </a:prstGeom>
          <a:solidFill>
            <a:srgbClr val="1A8A66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6459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Intake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branded front door that converts inquiries into active clients.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8221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38221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Portal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29000" y="42793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42793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Therapist Match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2 · INTAKE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Client Portal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Intake is completed before session one, every time.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client_portal_home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Pre-Visit Intake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Clients complete packets, sign consents, and confirm appointments before arriving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Pending Items Dashboard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Each client sees what needs attention while staff see what is still outstanding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 Client Experience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Secure messaging, appointment history, records, and billing in one login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2 · INTAKE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Therapist Match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Match each client to the right clinician, not just an available one.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 descr="therapist_m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85 Questions, 10 Domains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Demographics, clinical, cultural, lived experience, style, logistics, and philosophy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Weighted Scoring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domain carries a point weight, so match strength is measured rather than guessed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Beyond Credentials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Cultural competence and therapeutic philosophy that a directory listing cannot capture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486400" cy="5486400"/>
          </a:xfrm>
          <a:prstGeom prst="ellipse">
            <a:avLst/>
          </a:prstGeom>
          <a:solidFill>
            <a:srgbClr val="1A8A66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6459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Schedule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provider, location, and session in one view.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8221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38221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Calendar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42793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42793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Appointment Reminders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3 · SCHEDULE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Calendar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provider, every location, and every session in one view.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calendar_week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Billing &amp; Patient Details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Automatically pulls CPT, session count, and payer details</a:t>
            </a:r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Scheduling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Find Slot automation, drag-to-reschedule, group sessions, and ICS sync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Mobile-First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Providers check and manage their schedules from anywhere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3 · SCHEDULE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Appointment Reminders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Reduce no-shows without lifting a finger.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reminders_template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Multi-Channel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SMS, email, and voice reminders with bilingual English/Spanish support built in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Conditional Triggers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Customize trigger and field conditions per appointment and provider type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Ready to Activate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Prebuilt templates cut setup time from hours to minutes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486400" cy="5486400"/>
          </a:xfrm>
          <a:prstGeom prst="ellipse">
            <a:avLst/>
          </a:prstGeom>
          <a:solidFill>
            <a:srgbClr val="1A8A66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6459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Treat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full behavioral health EHR, purpose-built rather than bolted 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8221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38221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EHR + Tasks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42793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42793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Treatment Plan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4 · TREAT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EHR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full behavioral health EHR, built native rather than adapted from primary care.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ehr_dashboard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Clinical Dashboard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KPIs, upcoming sessions, recent notes, and form responses at a glance</a:t>
            </a:r>
          </a:p>
          <a:p>
            <a:pPr marL="0" indent="0">
              <a:buNone/>
            </a:pPr>
            <a:endParaRPr lang="en-US" sz="750" dirty="0">
              <a:solidFill>
                <a:srgbClr val="527060"/>
              </a:solidFill>
              <a:latin typeface="Sora" pitchFamily="34" charset="0"/>
              <a:ea typeface="Sora" pitchFamily="34" charset="-122"/>
              <a:cs typeface="Sora" pitchFamily="34" charset="-120"/>
            </a:endParaRPr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Client Record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Progress notes, demographics, and treatment history unified in one place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Purpose-Built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Documentation workflows built for behavioral health and nothing else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4 · TREAT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EHR · Tasks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clinical to-do tracked, assigned, and resolved for each client.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ehr_tasks_task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Per-Client Task Board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Checklists and subtasks for complex multi-provider care coordination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Date Enforcement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Mandatory due dates and recurring tasks for compliance-critical workflows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Visibility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Assignee tracking, attachment panels, and full status audit trail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4 · TREAT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Treatment Plan Builder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Compliant treatment plans, built faster and audited easier.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treatment_plan_builder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Co-Authored Plans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and care team collaborate on goals, objectives, and GAS scale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Level-of-Care Modes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Documentation modes for outpatient, IOP, and residential programs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Audit-Ready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Version history, clinician signoff, and export that satisfies payer review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486400" cy="5486400"/>
          </a:xfrm>
          <a:prstGeom prst="ellipse">
            <a:avLst/>
          </a:prstGeom>
          <a:solidFill>
            <a:srgbClr val="1A8A66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6459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Get Paid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that doesn’t leak, from first claim to final payment.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8221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38221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Cycle Mgmt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5 · GET PAID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Revenue Cycle Management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that doesn’t leak, from first claim to final payment.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rcm_denial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Denial Management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Underpayments and rejections surfaced before write-off, with payer and reason code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Native EDI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835 parsing, ERA reconciliation, corrected claims, and COB, with no clearinghouse workaround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Appeal Tracker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appealed claim tracked from filing through payer decision, so nothing ages out of the window</a:t>
            </a:r>
            <a:endParaRPr lang="en-US" sz="750" dirty="0">
              <a:solidFill>
                <a:srgbClr val="97A9A0"/>
              </a:solidFill>
              <a:latin typeface="S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5 · GET PAID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Chargemaster &amp; Claims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Billing infrastructure behavioral health practices actually need.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rcm_chargemaster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Super Chargemaster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100+ CPT codes with contracted payer rates, modifiers, and locality fee schedules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Live Claims Board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Real-time payer status, billed amount, and unposted balance per claim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End-to-End Cycle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Patient Statements, Biller Queue, 277CA, and clearinghouse wizard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486400" cy="5486400"/>
          </a:xfrm>
          <a:prstGeom prst="ellipse">
            <a:avLst/>
          </a:prstGeom>
          <a:solidFill>
            <a:srgbClr val="1A8A66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DB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6459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Operate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Visibility across every module, so you know before it becomes a problem.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8221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38221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Alerts Hub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4279392"/>
            <a:ext cx="2057400" cy="338328"/>
          </a:xfrm>
          <a:prstGeom prst="roundRect">
            <a:avLst>
              <a:gd name="adj" fmla="val 37838"/>
            </a:avLst>
          </a:prstGeom>
          <a:solidFill>
            <a:srgbClr val="1A8A66">
              <a:alpha val="30000"/>
            </a:srgbClr>
          </a:solidFill>
          <a:ln w="9525">
            <a:solidFill>
              <a:srgbClr val="2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427939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FAF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Reports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6 · OPERATE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Alerts Hub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Know before it becomes a problem.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alerts_list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Cross-Module Feed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No-shows, denials, document gaps, and credential expirations in one stream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Escalation Routing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Per-user channel preferences across desktop, email, and in-app delivery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Nothing Slips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Read, snooze, and dismiss tracking ensures no critical alert is missed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6 · OPERATE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Reports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Reporting that satisfies payers, leadership, and accreditation.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reports_template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BH KPI Library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Clinical, operational, and financial measures built in and ready to run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Configurable Templates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Monthly leadership reviews, payer reports, and accreditation docs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Filter Any Dimension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Date range, provider, location, and service type, all export-ready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6 · OPERATE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Reports · Measures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Drill into any metric, in any dimension and any time frame.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124712"/>
            <a:ext cx="7955280" cy="3082671"/>
          </a:xfrm>
          <a:prstGeom prst="rect">
            <a:avLst/>
          </a:prstGeom>
          <a:solidFill>
            <a:srgbClr val="B8CCC2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1056132"/>
            <a:ext cx="8001000" cy="3128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shots_wide/reports_measure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7955280" cy="30826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960120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Any Permutation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Measurement over time, percentage-of-goal, weighted scoring, composite indices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82696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01568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01568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648456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 a Ceiling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01568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Standard measures are a starting point, so you can build custom KPIs from any data point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971032" y="4289679"/>
            <a:ext cx="257860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9904" y="4408551"/>
            <a:ext cx="182880" cy="182880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44085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36792" y="439940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Comparative Analysis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89904" y="4600575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Cohort comparison, provider benchmarks, and payer performance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A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9144000" cy="25603"/>
          </a:xfrm>
          <a:prstGeom prst="rect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274320"/>
            <a:ext cx="384048" cy="38404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22A8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STAGE 6 · OPERATE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36576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Reports · Build Anything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120640" y="2560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A8C4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data analyst’s dream, on a unified data model.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" y="1207008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" y="1316736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6948" y="1307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Measurement Over Time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" y="1627632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Trend any metric across weeks, months, or quarters with visual comparison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23260" y="1207008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32988" y="1316736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2988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07308" y="1307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Percentage &amp; Ratio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2988" y="1627632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Goal attainment, no-show rate, denial rate, and collection percentage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03620" y="1207008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3348" y="1316736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3348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87668" y="1307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Weighted Scoring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3348" y="1627632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Apply custom weights to composite outcome indices from any measures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" y="2340864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" y="2450592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6948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Cohort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" y="276148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Compare client groups by diagnosis, payer, provider, or program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23260" y="2340864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32988" y="2450592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32988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07308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Provider Benchmarks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2988" y="276148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Side-by-side performance metrics across every member of the care team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03620" y="2340864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3348" y="2450592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3348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87668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Payer Comparison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3348" y="276148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Reimbursement rates, denial patterns, and collection performance by payer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2900" y="347472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2628" y="3584448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628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26948" y="3575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Program Outcomes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2628" y="38953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IOP, outpatient, and residential KPIs, clinical and operational together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23260" y="347472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332988" y="3584448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32988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607308" y="3575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Accreditation Reports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32988" y="38953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Pre-formatted for CARF, TJC, and NCQA requirements, ready to export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03620" y="347472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DE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13348" y="3584448"/>
            <a:ext cx="201168" cy="201168"/>
          </a:xfrm>
          <a:prstGeom prst="ellipse">
            <a:avLst/>
          </a:prstGeom>
          <a:solidFill>
            <a:srgbClr val="1A8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13348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487668" y="3575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1F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 KPIs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3348" y="38953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from any data point captured across the entire Credify platform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6400800" cy="6400800"/>
          </a:xfrm>
          <a:prstGeom prst="ellipse">
            <a:avLst/>
          </a:prstGeom>
          <a:solidFill>
            <a:srgbClr val="1A8A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2560320"/>
            <a:ext cx="4114800" cy="4114800"/>
          </a:xfrm>
          <a:prstGeom prst="ellipse">
            <a:avLst/>
          </a:prstGeom>
          <a:solidFill>
            <a:srgbClr val="22A87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379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unified platform replaces the stack.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542032"/>
            <a:ext cx="118872" cy="118872"/>
          </a:xfrm>
          <a:prstGeom prst="ellipse">
            <a:avLst/>
          </a:prstGeom>
          <a:solidFill>
            <a:srgbClr val="2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99616" y="245059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 Acquire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99616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CRM + Email / SMS Outreach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80160" y="3346704"/>
            <a:ext cx="118872" cy="118872"/>
          </a:xfrm>
          <a:prstGeom prst="ellipse">
            <a:avLst/>
          </a:prstGeom>
          <a:solidFill>
            <a:srgbClr val="2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9616" y="325526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 Intake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99616" y="3602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Portal + Therapist Match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80160" y="4151376"/>
            <a:ext cx="118872" cy="118872"/>
          </a:xfrm>
          <a:prstGeom prst="ellipse">
            <a:avLst/>
          </a:prstGeom>
          <a:solidFill>
            <a:srgbClr val="2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99616" y="405993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 Schedule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99616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Calendar + Reminders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2542032"/>
            <a:ext cx="118872" cy="118872"/>
          </a:xfrm>
          <a:prstGeom prst="ellipse">
            <a:avLst/>
          </a:prstGeom>
          <a:solidFill>
            <a:srgbClr val="2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57216" y="245059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 Treat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57216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EHR · Tasks · Treatment Plan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3346704"/>
            <a:ext cx="118872" cy="118872"/>
          </a:xfrm>
          <a:prstGeom prst="ellipse">
            <a:avLst/>
          </a:prstGeom>
          <a:solidFill>
            <a:srgbClr val="2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57216" y="325526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  Get Paid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57216" y="3602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Cycle Management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4151376"/>
            <a:ext cx="118872" cy="118872"/>
          </a:xfrm>
          <a:prstGeom prst="ellipse">
            <a:avLst/>
          </a:prstGeom>
          <a:solidFill>
            <a:srgbClr val="2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57216" y="405993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  Operate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57216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AA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Alerts Hub +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80" dirty="0">
                <a:solidFill>
                  <a:srgbClr val="527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credifyfast.com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2434</Words>
  <Application>Microsoft Office PowerPoint</Application>
  <PresentationFormat>On-screen Show (16:9)</PresentationFormat>
  <Paragraphs>431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Instrument Serif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Chase Lacny</cp:lastModifiedBy>
  <cp:revision>2</cp:revision>
  <dcterms:created xsi:type="dcterms:W3CDTF">2026-08-13T15:36:19Z</dcterms:created>
  <dcterms:modified xsi:type="dcterms:W3CDTF">2026-08-13T17:00:05Z</dcterms:modified>
</cp:coreProperties>
</file>